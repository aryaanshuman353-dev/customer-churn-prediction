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9B8E"/>
              </a:solidFill>
              <a:effectLst/>
            </c:spPr>
          </c:dPt>
          <c:dPt>
            <c:idx val="1"/>
            <c:bubble3D val="0"/>
            <c:spPr>
              <a:solidFill>
                <a:srgbClr val="FF6B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Churn (73.5%)</c:v>
                </c:pt>
                <c:pt idx="1">
                  <c:v>Churn (26.5%)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71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F9B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1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9B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Churn</c:v>
                  </c:pt>
                  <c:pt idx="1">
                    <c:v>Churn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4139</c:v>
                </c:pt>
                <c:pt idx="1">
                  <c:v>1495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31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F9B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1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9B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9B8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Churn</c:v>
                  </c:pt>
                  <c:pt idx="1">
                    <c:v>Churn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4139</c:v>
                </c:pt>
                <c:pt idx="1">
                  <c:v>4139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31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1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Churn</c:v>
                  </c:pt>
                  <c:pt idx="1">
                    <c:v>Churn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1496</c:v>
                </c:pt>
                <c:pt idx="1">
                  <c:v>1496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31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F9B8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1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9B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9B8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Decision Tree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</c:v>
                </c:pt>
                <c:pt idx="1">
                  <c:v>0.85</c:v>
                </c:pt>
                <c:pt idx="2">
                  <c:v>0.83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631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solidFill>
              <a:srgbClr val="FF6B4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31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Regularization</c:v>
                  </c:pt>
                  <c:pt idx="1">
                    <c:v>After Regularization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0.9966</c:v>
                </c:pt>
                <c:pt idx="1">
                  <c:v>0.8554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F9B8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31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Regularization</c:v>
                  </c:pt>
                  <c:pt idx="1">
                    <c:v>After Regularization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0.7743</c:v>
                </c:pt>
                <c:pt idx="1">
                  <c:v>0.775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50" u="none">
                  <a:solidFill>
                    <a:srgbClr val="1631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71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F9B8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1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F1-Score</c:v>
                  </c:pt>
                  <c:pt idx="3">
                    <c:v>Accuracy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</c:v>
                </c:pt>
                <c:pt idx="1">
                  <c:v>0.74</c:v>
                </c:pt>
                <c:pt idx="2">
                  <c:v>0.64</c:v>
                </c:pt>
                <c:pt idx="3">
                  <c:v>0.775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631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16314F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937760"/>
            <a:ext cx="3291840" cy="329184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0F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INTERNSHIP  ·  NAVIOTECH SOLUTION  ·  JUNE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modeling project on telecom customer data — from raw records to a tuned, production-ready classifier.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2011680" cy="0"/>
          </a:xfrm>
          <a:prstGeom prst="line">
            <a:avLst/>
          </a:prstGeom>
          <a:noFill/>
          <a:ln w="25400">
            <a:solidFill>
              <a:srgbClr val="0F9B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40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 |  B.Tech CSE (Data Science)  |  Gandhi Engineering College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customer churn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is when a subscriber stops using a company's service — a telecom customer cancelling their plan, for example. It's one of the most expensive problems in subscription businesses.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246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5-25x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14600" y="32461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acquire a new customer than retain an existing one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270248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427024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427024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in our dataset had already churned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294376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5294376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signal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5294376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model can flag at-risk customers before they leave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35240" y="1691640"/>
            <a:ext cx="3749040" cy="4251960"/>
          </a:xfrm>
          <a:prstGeom prst="roundRect">
            <a:avLst>
              <a:gd name="adj" fmla="val 2927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SNAPSHOT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22860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90956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analyzed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9560" y="3429000"/>
            <a:ext cx="3200400" cy="0"/>
          </a:xfrm>
          <a:prstGeom prst="line">
            <a:avLst/>
          </a:prstGeom>
          <a:noFill/>
          <a:ln w="19050">
            <a:solidFill>
              <a:srgbClr val="1631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3611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90956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 (26.5%)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09560" y="4617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5,174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90956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retained (73.5%)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148840"/>
            <a:ext cx="640080" cy="64008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188720" y="30632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Churn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56616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that classifies whether a customer will churn, using their account and service data.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2148840"/>
            <a:ext cx="640080" cy="64008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Key Drivers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356616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factors — contract type, tenure, charges, services — most strongly influence a customer's decision to leave.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0392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0" y="2148840"/>
            <a:ext cx="640080" cy="64008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8869680" y="30632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Action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0" y="356616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business a tool to flag at-risk customers early, so retention efforts can be targeted rather than reactive.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47288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447288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47288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71616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071616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71616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95944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95944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95944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Churn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categories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35935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447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 </a:t>
            </a:r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 citizen, partner, dependents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0507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9044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info:  </a:t>
            </a:r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 type, payment method, billing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5079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3616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 </a:t>
            </a:r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internet, streaming, security, tech support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9651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8188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Charges:  </a:t>
            </a:r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charges, total charges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35240" y="1691640"/>
            <a:ext cx="3749040" cy="42519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6314F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0956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distribution</a:t>
            </a:r>
            <a:endParaRPr lang="en-US" sz="15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7818120" y="2377440"/>
          <a:ext cx="3383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data model-ready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82880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193852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irrelevant columns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94960" y="193852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customerID — an identifier with no predictive value.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52928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852928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2962656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missing values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394960" y="2962656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blank entries in TotalCharges were identified and replaced.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77056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877056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11680" y="3986784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categorical data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94960" y="3986784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Label Encoding to convert text categories (e.g. contract type) into numbers.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01184"/>
            <a:ext cx="10515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901184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E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11680" y="501091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394960" y="5010912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80% training data and 20% test data, kept aside for unbiased evaluation.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the training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 is skewed — far more retained customers than churned ones. Training directly on this would bias the model toward predicting "No Churn." Two techniques were tested: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training data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697480"/>
          <a:ext cx="3474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43484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SMOTE (oversampling)</a:t>
            </a:r>
            <a:endParaRPr lang="en-US" sz="13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434840" y="2697480"/>
          <a:ext cx="3474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04672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Downsampling</a:t>
            </a:r>
            <a:endParaRPr lang="en-US" sz="135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8046720" y="2697480"/>
          <a:ext cx="3474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algorithms with Stratified K-Fold CV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were trained and evaluated using 5-fold Stratified Cross Validation — which preserves the churn/no-churn ratio in every fold for a fair comparison.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6035040" cy="3246120"/>
          </a:xfrm>
          <a:prstGeom prst="roundRect">
            <a:avLst>
              <a:gd name="adj" fmla="val 2817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38862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its highest cross-validation accuracy among the three, plus strong stability across folds.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846320"/>
            <a:ext cx="5212080" cy="0"/>
          </a:xfrm>
          <a:prstGeom prst="line">
            <a:avLst/>
          </a:prstGeom>
          <a:noFill/>
          <a:ln w="19050">
            <a:solidFill>
              <a:srgbClr val="163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5029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→  Random Forest  →  XGBoost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5394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evaluated, in order tested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78040" y="2377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CV accuracy (mean)</a:t>
            </a:r>
            <a:endParaRPr lang="en-US" sz="13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995160" y="2743200"/>
          <a:ext cx="4572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the model — and catching overfitting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found the best Random Forest settings (200 trees, max depth 20). But testing revealed the model had memorized the training data — a classic overfitting problem.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vs. Test Accuracy Gap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69748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2697480"/>
            <a:ext cx="4572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314F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86600" y="2834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22.2% → 8.0%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086600" y="34290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gap reduced by limiting tree depth and requiring more samples per split/leaf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0" y="4434840"/>
            <a:ext cx="4572000" cy="1645920"/>
          </a:xfrm>
          <a:prstGeom prst="roundRect">
            <a:avLst>
              <a:gd name="adj" fmla="val 5556"/>
            </a:avLst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4572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settings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86600" y="49377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8   ·   min_samples_split = 5   ·   min_samples_leaf = 4   ·   n_estimators = 200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regularized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(Test Set)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128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C9D6DC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2128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C9D6D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301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352044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6B4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36301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29000" y="4297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3524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— Churn Class</a:t>
            </a:r>
            <a:endParaRPr lang="en-US" sz="13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406640" y="2057400"/>
          <a:ext cx="4572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achieved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03704"/>
            <a:ext cx="128016" cy="128016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574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ML pipeline — cleaning, EDA, encoding, imbalance handling, modeling, tuning, and evaluation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889504"/>
            <a:ext cx="128016" cy="128016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SMOTE vs. downsampling, and understood the precision/recall trade-off between them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575304"/>
            <a:ext cx="128016" cy="128016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4290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detect overfitting by comparing train vs. test accuracy, and fixed it through regularization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261104"/>
            <a:ext cx="128016" cy="128016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1148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that raw accuracy can be misleading on imbalanced data — recall matters more for catching churners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2440" y="214884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16314F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743200"/>
            <a:ext cx="2834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gradient boosting variants (LightGBM, CatBoost)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as a simple web app for live predictions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analysis for feature-level explainability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1631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welcome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2026-07-14T21:56:07Z</dcterms:created>
  <dcterms:modified xsi:type="dcterms:W3CDTF">2026-07-14T21:56:07Z</dcterms:modified>
</cp:coreProperties>
</file>